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48495" y="4114800"/>
            <a:ext cx="5486400" cy="5486400"/>
          </a:xfrm>
          <a:prstGeom prst="ellipse">
            <a:avLst/>
          </a:prstGeom>
          <a:solidFill>
            <a:srgbClr val="113B6E"/>
          </a:solidFill>
          <a:ln w="12700">
            <a:solidFill>
              <a:srgbClr val="113B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20095" y="-1371600"/>
            <a:ext cx="2743200" cy="274320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600" dirty="0">
                <a:solidFill>
                  <a:srgbClr val="F4B4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 MINI PROJECT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Segmentation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10058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K-Means Clustering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914400" y="4389120"/>
            <a:ext cx="1371600" cy="73152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57200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937760"/>
            <a:ext cx="5486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Sneha Verma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14400" y="548640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B.Tech  •  Machine Learning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6EC2"/>
          </a:solidFill>
        </p:spPr>
      </p:sp>
      <p:sp>
        <p:nvSpPr>
          <p:cNvPr id="3" name="Text 1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B6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 •  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7280" cy="73152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Segmentation Using K-Means Clustering  |  Sneha Verma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5943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6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segmentation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5943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 the process of dividing customers into groups based on shared characteristics and purchasing behavior.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594360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this project we apply the K-Means Clustering algorithm to analyze customer data using Annual Income and Spending Score — enabling businesses to design personalized marketing strategies.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0" y="1920240"/>
            <a:ext cx="4206240" cy="4206240"/>
          </a:xfrm>
          <a:prstGeom prst="roundRect">
            <a:avLst>
              <a:gd name="adj" fmla="val 3261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2194560"/>
            <a:ext cx="420624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1B6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 = 5</a:t>
            </a:r>
            <a:endParaRPr lang="en-US" sz="8000" dirty="0"/>
          </a:p>
        </p:txBody>
      </p:sp>
      <p:sp>
        <p:nvSpPr>
          <p:cNvPr id="12" name="Text 10"/>
          <p:cNvSpPr/>
          <p:nvPr/>
        </p:nvSpPr>
        <p:spPr>
          <a:xfrm>
            <a:off x="7315200" y="3657600"/>
            <a:ext cx="4206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OPTIMAL CLUSTERS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0" y="4206240"/>
            <a:ext cx="1463040" cy="0"/>
          </a:xfrm>
          <a:prstGeom prst="line">
            <a:avLst/>
          </a:prstGeom>
          <a:noFill/>
          <a:ln w="25400">
            <a:solidFill>
              <a:srgbClr val="F4B4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4389120"/>
            <a:ext cx="4206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Unsupervised Learning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0" y="4846320"/>
            <a:ext cx="4206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Mall Customers Dataset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206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Income  •  Spending Score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6EC2"/>
          </a:solidFill>
        </p:spPr>
      </p:sp>
      <p:sp>
        <p:nvSpPr>
          <p:cNvPr id="3" name="Text 1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B6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 •  WHY THIS MATTERS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7280" cy="73152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Segmentation Using K-Means Clustering  |  Sneha Verma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10972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Businesses face customers with diverse income levels and spending habits. Treating every customer the same reduces marketing effectiveness and revenue.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34747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383280"/>
            <a:ext cx="640080" cy="640080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38328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411480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0" y="4572000"/>
            <a:ext cx="29260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Discover distinct customer groups hidden in raw data.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89120" y="3200400"/>
            <a:ext cx="34747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3383280"/>
            <a:ext cx="640080" cy="640080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38328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63440" y="411480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Analyze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0" y="4572000"/>
            <a:ext cx="29260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 purchasing patterns and behavioral signals.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38160" y="3200400"/>
            <a:ext cx="34747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0" y="3383280"/>
            <a:ext cx="640080" cy="640080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338328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12480" y="4114800"/>
            <a:ext cx="2926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412480" y="4572000"/>
            <a:ext cx="292608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Enable targeted marketing and smarter business decisions.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6EC2"/>
          </a:solidFill>
        </p:spPr>
      </p:sp>
      <p:sp>
        <p:nvSpPr>
          <p:cNvPr id="3" name="Text 1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B6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 •  GOALS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Objectives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7280" cy="73152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Segmentation Using K-Means Clustering  |  Sneha Verma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286000"/>
            <a:ext cx="548640" cy="548640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28600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2240280"/>
            <a:ext cx="44805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 customer purchasing behavior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01168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29400" y="2286000"/>
            <a:ext cx="548640" cy="548640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228600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0" y="2240280"/>
            <a:ext cx="44805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 the K-Means clustering algorithm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333756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611880"/>
            <a:ext cx="548640" cy="548640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6118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3566160"/>
            <a:ext cx="44805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Determine optimal K using the Elbow Method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0" y="333756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3611880"/>
            <a:ext cx="548640" cy="548640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36118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0" y="3566160"/>
            <a:ext cx="44805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customers with similar traits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466344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4937760"/>
            <a:ext cx="548640" cy="548640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93776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54480" y="4892040"/>
            <a:ext cx="44805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Visualize customer segments clearly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00800" y="466344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29400" y="4937760"/>
            <a:ext cx="548640" cy="548640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493776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15200" y="4892040"/>
            <a:ext cx="44805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 insights for personalized marketing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6EC2"/>
          </a:solidFill>
        </p:spPr>
      </p:sp>
      <p:sp>
        <p:nvSpPr>
          <p:cNvPr id="3" name="Text 1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B6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 •  TECH STACK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Technologies Used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7280" cy="73152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Segmentation Using K-Means Clustering  |  Sneha Verma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640080" y="1920240"/>
          <a:ext cx="10972800" cy="4023360"/>
        </p:xfrm>
        <a:graphic>
          <a:graphicData uri="http://schemas.openxmlformats.org/drawingml/2006/table">
            <a:tbl>
              <a:tblPr/>
              <a:tblGrid>
                <a:gridCol w="3200400"/>
                <a:gridCol w="7772400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Technology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Purpose</a:t>
                      </a:r>
                      <a:endParaRPr lang="en-US" sz="16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C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Python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A6B7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Core programming language for implementation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Google Colab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A6B7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Cloud-based development environment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Pandas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A6B7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Data loading and manipulation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NumPy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A6B7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Numerical computations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Matplotlib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A6B7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Data visualization and plotting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Scikit-learn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A6B7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Machine learning library implementing K-Means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K-Means Clustering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A6B7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Unsupervised algorithm for grouping customers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6EC2"/>
          </a:solidFill>
        </p:spPr>
      </p:sp>
      <p:sp>
        <p:nvSpPr>
          <p:cNvPr id="3" name="Text 1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B6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 •  MALL CUSTOMERS DATASET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Overview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7280" cy="73152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Segmentation Using K-Means Clustering  |  Sneha Verma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03120"/>
            <a:ext cx="4754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Available Features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4400" y="2834640"/>
            <a:ext cx="182880" cy="182880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269748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CustomerID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3429000"/>
            <a:ext cx="182880" cy="182880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329184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Gender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4400" y="4023360"/>
            <a:ext cx="182880" cy="182880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388620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4400" y="4617720"/>
            <a:ext cx="182880" cy="182880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448056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Annual Income (k$)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4400" y="5212080"/>
            <a:ext cx="182880" cy="182880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507492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Spending Score (1–100)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0" y="192024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4B4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FOR CLUSTERING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92240" y="2651760"/>
            <a:ext cx="4754880" cy="1280160"/>
          </a:xfrm>
          <a:prstGeom prst="roundRect">
            <a:avLst>
              <a:gd name="adj" fmla="val 5714"/>
            </a:avLst>
          </a:prstGeom>
          <a:solidFill>
            <a:srgbClr val="113B6E"/>
          </a:solidFill>
          <a:ln w="12700">
            <a:solidFill>
              <a:srgbClr val="113B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2743200"/>
            <a:ext cx="4389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Annual Income (k$)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675120" y="3246120"/>
            <a:ext cx="4389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Earning capacity of each customer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92240" y="4069080"/>
            <a:ext cx="4754880" cy="1280160"/>
          </a:xfrm>
          <a:prstGeom prst="roundRect">
            <a:avLst>
              <a:gd name="adj" fmla="val 5714"/>
            </a:avLst>
          </a:prstGeom>
          <a:solidFill>
            <a:srgbClr val="113B6E"/>
          </a:solidFill>
          <a:ln w="12700">
            <a:solidFill>
              <a:srgbClr val="113B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4160520"/>
            <a:ext cx="4389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Spending Score (1–100)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675120" y="4663440"/>
            <a:ext cx="4389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engagement and purchase behavior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92240" y="5486400"/>
            <a:ext cx="47548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These two features clearly capture customer purchasing behavior.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6EC2"/>
          </a:solidFill>
        </p:spPr>
      </p:sp>
      <p:sp>
        <p:nvSpPr>
          <p:cNvPr id="3" name="Text 1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B6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 •  METHODOLOGY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Workflow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7280" cy="73152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Segmentation Using K-Means Clustering  |  Sneha Verma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2057400" cy="1097280"/>
          </a:xfrm>
          <a:prstGeom prst="roundRect">
            <a:avLst>
              <a:gd name="adj" fmla="val 8333"/>
            </a:avLst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4884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18745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 Libraries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15768" y="2651760"/>
            <a:ext cx="164592" cy="0"/>
          </a:xfrm>
          <a:prstGeom prst="line">
            <a:avLst/>
          </a:prstGeom>
          <a:noFill/>
          <a:ln w="25400">
            <a:solidFill>
              <a:srgbClr val="1B6EC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98648" y="2103120"/>
            <a:ext cx="2057400" cy="1097280"/>
          </a:xfrm>
          <a:prstGeom prst="roundRect">
            <a:avLst>
              <a:gd name="adj" fmla="val 8333"/>
            </a:avLst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90088" y="214884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90088" y="2377440"/>
            <a:ext cx="18745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 Dataset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74336" y="2651760"/>
            <a:ext cx="164592" cy="0"/>
          </a:xfrm>
          <a:prstGeom prst="line">
            <a:avLst/>
          </a:prstGeom>
          <a:noFill/>
          <a:ln w="25400">
            <a:solidFill>
              <a:srgbClr val="1B6EC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57216" y="2103120"/>
            <a:ext cx="2057400" cy="1097280"/>
          </a:xfrm>
          <a:prstGeom prst="roundRect">
            <a:avLst>
              <a:gd name="adj" fmla="val 8333"/>
            </a:avLst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48656" y="214884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48656" y="2377440"/>
            <a:ext cx="18745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Explore Data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232904" y="2651760"/>
            <a:ext cx="164592" cy="0"/>
          </a:xfrm>
          <a:prstGeom prst="line">
            <a:avLst/>
          </a:prstGeom>
          <a:noFill/>
          <a:ln w="25400">
            <a:solidFill>
              <a:srgbClr val="1B6EC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15784" y="2103120"/>
            <a:ext cx="2057400" cy="1097280"/>
          </a:xfrm>
          <a:prstGeom prst="roundRect">
            <a:avLst>
              <a:gd name="adj" fmla="val 8333"/>
            </a:avLst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07224" y="214884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507224" y="2377440"/>
            <a:ext cx="18745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 Features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491472" y="2651760"/>
            <a:ext cx="164592" cy="0"/>
          </a:xfrm>
          <a:prstGeom prst="line">
            <a:avLst/>
          </a:prstGeom>
          <a:noFill/>
          <a:ln w="25400">
            <a:solidFill>
              <a:srgbClr val="1B6EC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674352" y="2103120"/>
            <a:ext cx="2057400" cy="1097280"/>
          </a:xfrm>
          <a:prstGeom prst="roundRect">
            <a:avLst>
              <a:gd name="adj" fmla="val 8333"/>
            </a:avLst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65792" y="214884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765792" y="2377440"/>
            <a:ext cx="18745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 Elbow Method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703052" y="3246120"/>
            <a:ext cx="0" cy="731520"/>
          </a:xfrm>
          <a:prstGeom prst="line">
            <a:avLst/>
          </a:prstGeom>
          <a:noFill/>
          <a:ln w="25400">
            <a:solidFill>
              <a:srgbClr val="1B6EC2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674352" y="4023360"/>
            <a:ext cx="2057400" cy="1097280"/>
          </a:xfrm>
          <a:prstGeom prst="roundRect">
            <a:avLst>
              <a:gd name="adj" fmla="val 8333"/>
            </a:avLst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65792" y="406908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765792" y="4297680"/>
            <a:ext cx="18745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Choose K = 5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491472" y="4572000"/>
            <a:ext cx="164592" cy="0"/>
          </a:xfrm>
          <a:prstGeom prst="line">
            <a:avLst/>
          </a:prstGeom>
          <a:noFill/>
          <a:ln w="25400">
            <a:solidFill>
              <a:srgbClr val="1B6EC2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415784" y="4023360"/>
            <a:ext cx="2057400" cy="1097280"/>
          </a:xfrm>
          <a:prstGeom prst="roundRect">
            <a:avLst>
              <a:gd name="adj" fmla="val 8333"/>
            </a:avLst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07224" y="406908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07224" y="4297680"/>
            <a:ext cx="18745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K-Means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232904" y="4572000"/>
            <a:ext cx="164592" cy="0"/>
          </a:xfrm>
          <a:prstGeom prst="line">
            <a:avLst/>
          </a:prstGeom>
          <a:noFill/>
          <a:ln w="25400">
            <a:solidFill>
              <a:srgbClr val="1B6EC2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157216" y="4023360"/>
            <a:ext cx="2057400" cy="1097280"/>
          </a:xfrm>
          <a:prstGeom prst="roundRect">
            <a:avLst>
              <a:gd name="adj" fmla="val 8333"/>
            </a:avLst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48656" y="406908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48656" y="4297680"/>
            <a:ext cx="18745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Assign Clusters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974336" y="4572000"/>
            <a:ext cx="164592" cy="0"/>
          </a:xfrm>
          <a:prstGeom prst="line">
            <a:avLst/>
          </a:prstGeom>
          <a:noFill/>
          <a:ln w="25400">
            <a:solidFill>
              <a:srgbClr val="1B6EC2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2898648" y="4023360"/>
            <a:ext cx="2057400" cy="1097280"/>
          </a:xfrm>
          <a:prstGeom prst="roundRect">
            <a:avLst>
              <a:gd name="adj" fmla="val 8333"/>
            </a:avLst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90088" y="406908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990088" y="4297680"/>
            <a:ext cx="18745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Visualize Segments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715768" y="4572000"/>
            <a:ext cx="164592" cy="0"/>
          </a:xfrm>
          <a:prstGeom prst="line">
            <a:avLst/>
          </a:prstGeom>
          <a:noFill/>
          <a:ln w="25400">
            <a:solidFill>
              <a:srgbClr val="1B6EC2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40080" y="4023360"/>
            <a:ext cx="2057400" cy="1097280"/>
          </a:xfrm>
          <a:prstGeom prst="roundRect">
            <a:avLst>
              <a:gd name="adj" fmla="val 8333"/>
            </a:avLst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" y="4069080"/>
            <a:ext cx="548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31520" y="4297680"/>
            <a:ext cx="18745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Insights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6EC2"/>
          </a:solidFill>
        </p:spPr>
      </p:sp>
      <p:sp>
        <p:nvSpPr>
          <p:cNvPr id="3" name="Text 1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B6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  •  ALGORITHM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K-Means Clustering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7280" cy="73152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Segmentation Using K-Means Clustering  |  Sneha Verma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10972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unsupervised algorithm that groups similar data points into K clusters by iteratively refining centroid positions.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B6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365760" cy="365760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3200400"/>
            <a:ext cx="4754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Choose number of clusters 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365760" cy="365760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7490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3703320"/>
            <a:ext cx="4754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Initialize K centroids randomly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251960"/>
            <a:ext cx="365760" cy="365760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25196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4206240"/>
            <a:ext cx="4754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Assign each point to nearest centroid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754880"/>
            <a:ext cx="365760" cy="365760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75488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" y="4709160"/>
            <a:ext cx="4754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Recompute centroid positions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5257800"/>
            <a:ext cx="365760" cy="365760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25780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5212080"/>
            <a:ext cx="4754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Repeat until centroids stabilize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583680" y="2743200"/>
            <a:ext cx="5029200" cy="3108960"/>
          </a:xfrm>
          <a:prstGeom prst="roundRect">
            <a:avLst>
              <a:gd name="adj" fmla="val 3529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288036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B6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K-MEANS?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0" y="3566160"/>
            <a:ext cx="137160" cy="13716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3383280"/>
            <a:ext cx="4297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 and computationally efficient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0" y="4114800"/>
            <a:ext cx="137160" cy="13716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0" y="3931920"/>
            <a:ext cx="4297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 to implement and interpret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858000" y="4663440"/>
            <a:ext cx="137160" cy="13716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0" y="4480560"/>
            <a:ext cx="4297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Produces clearly separated groups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858000" y="5212080"/>
            <a:ext cx="137160" cy="13716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0" y="5029200"/>
            <a:ext cx="4297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Scales well to larger datasets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6EC2"/>
          </a:solidFill>
        </p:spPr>
      </p:sp>
      <p:sp>
        <p:nvSpPr>
          <p:cNvPr id="3" name="Text 1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B6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  •  CHOOSING 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Elbow Method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7280" cy="73152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Segmentation Using K-Means Clustering  |  Sneha Verma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530352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Elbow Method plots WCSS (Within-Cluster Sum of Squares) against different values of K. The "elbow" — where the curve bends — marks the optimal number of clusters.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840480"/>
            <a:ext cx="4937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B4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Selected K = 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4297680"/>
            <a:ext cx="4937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elbow point indicates five clusters as optimal.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029200"/>
            <a:ext cx="53035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 K increases, WCSS decreases — but after the elbow, gains become negligible.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5760720"/>
            <a:ext cx="429768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2377440"/>
            <a:ext cx="0" cy="338328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0" y="2651760"/>
            <a:ext cx="457200" cy="640080"/>
          </a:xfrm>
          <a:prstGeom prst="line">
            <a:avLst/>
          </a:prstGeom>
          <a:noFill/>
          <a:ln w="31750">
            <a:solidFill>
              <a:srgbClr val="1B6EC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0" y="3291840"/>
            <a:ext cx="548640" cy="822960"/>
          </a:xfrm>
          <a:prstGeom prst="line">
            <a:avLst/>
          </a:prstGeom>
          <a:noFill/>
          <a:ln w="31750">
            <a:solidFill>
              <a:srgbClr val="1B6E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4114800"/>
            <a:ext cx="640080" cy="822960"/>
          </a:xfrm>
          <a:prstGeom prst="line">
            <a:avLst/>
          </a:prstGeom>
          <a:noFill/>
          <a:ln w="31750">
            <a:solidFill>
              <a:srgbClr val="1B6E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0" y="4937760"/>
            <a:ext cx="640080" cy="411480"/>
          </a:xfrm>
          <a:prstGeom prst="line">
            <a:avLst/>
          </a:prstGeom>
          <a:noFill/>
          <a:ln w="31750">
            <a:solidFill>
              <a:srgbClr val="1B6E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26880" y="5349240"/>
            <a:ext cx="640080" cy="182880"/>
          </a:xfrm>
          <a:prstGeom prst="line">
            <a:avLst/>
          </a:prstGeom>
          <a:noFill/>
          <a:ln w="31750">
            <a:solidFill>
              <a:srgbClr val="1B6EC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66960" y="5532120"/>
            <a:ext cx="640080" cy="91440"/>
          </a:xfrm>
          <a:prstGeom prst="line">
            <a:avLst/>
          </a:prstGeom>
          <a:noFill/>
          <a:ln w="31750">
            <a:solidFill>
              <a:srgbClr val="1B6EC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07040" y="5623560"/>
            <a:ext cx="548640" cy="45720"/>
          </a:xfrm>
          <a:prstGeom prst="line">
            <a:avLst/>
          </a:prstGeom>
          <a:noFill/>
          <a:ln w="31750">
            <a:solidFill>
              <a:srgbClr val="1B6EC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49640" y="4800600"/>
            <a:ext cx="274320" cy="27432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0" y="4754880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Elbow (K=5)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46520" y="37490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WCSS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0" y="546354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Number of Clusters (K)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 flipV="1">
            <a:off x="6400800" y="5531485"/>
            <a:ext cx="5212080" cy="45783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 Elbow Method Output Here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 / 15</a:t>
            </a:r>
            <a:endParaRPr lang="en-US" sz="1000" dirty="0"/>
          </a:p>
        </p:txBody>
      </p:sp>
      <p:pic>
        <p:nvPicPr>
          <p:cNvPr id="28" name="Picture 27" descr="elbow_metho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4885" y="2028190"/>
            <a:ext cx="6023610" cy="39122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6EC2"/>
          </a:solidFill>
        </p:spPr>
      </p:sp>
      <p:sp>
        <p:nvSpPr>
          <p:cNvPr id="3" name="Text 1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B6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  •  SEGMENTATION RESULT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Cluster Visualization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7280" cy="73152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Segmentation Using K-Means Clustering  |  Sneha Verma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530352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trained K-Means model groups customers into five distinct clusters based on Annual Income and Spending Score.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456432"/>
            <a:ext cx="274320" cy="2743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383280"/>
            <a:ext cx="2286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Cluster 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913632"/>
            <a:ext cx="274320" cy="274320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840480"/>
            <a:ext cx="2286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Cluster 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370832"/>
            <a:ext cx="274320" cy="2743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297680"/>
            <a:ext cx="2286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Cluster 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828032"/>
            <a:ext cx="274320" cy="27432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754880"/>
            <a:ext cx="2286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Cluster 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285232"/>
            <a:ext cx="274320" cy="274320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212080"/>
            <a:ext cx="2286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Cluster 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71500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✕  Cluster centroids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192024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E8F1FB"/>
          </a:solidFill>
          <a:ln w="12700">
            <a:solidFill>
              <a:srgbClr val="1B6EC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858000" y="5760720"/>
            <a:ext cx="429768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0" y="2377440"/>
            <a:ext cx="0" cy="338328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39259" y="5253531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30900" y="5627060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56787" y="4870760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96030" y="5400452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1047" y="5229292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74042" y="5384569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02368" y="5132505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87800" y="5127856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99665" y="4772311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05232" y="5668892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52280" y="5627554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80613" y="5167587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06640" y="49834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✕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7411103" y="3382492"/>
            <a:ext cx="164592" cy="164592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72647" y="3101266"/>
            <a:ext cx="164592" cy="164592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17529" y="2943276"/>
            <a:ext cx="164592" cy="164592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95341" y="2784346"/>
            <a:ext cx="164592" cy="164592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06740" y="2974430"/>
            <a:ext cx="164592" cy="164592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85771" y="3524818"/>
            <a:ext cx="164592" cy="164592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70265" y="2990533"/>
            <a:ext cx="164592" cy="164592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72720" y="3448728"/>
            <a:ext cx="164592" cy="164592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03500" y="3285094"/>
            <a:ext cx="164592" cy="164592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5316" y="3391453"/>
            <a:ext cx="164592" cy="164592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11707" y="3000159"/>
            <a:ext cx="164592" cy="164592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94316" y="3443303"/>
            <a:ext cx="164592" cy="164592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0" y="28803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✕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9193214" y="4383346"/>
            <a:ext cx="164592" cy="16459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924740" y="3853764"/>
            <a:ext cx="164592" cy="16459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76778" y="4395686"/>
            <a:ext cx="164592" cy="16459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440198" y="4259333"/>
            <a:ext cx="164592" cy="16459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503900" y="4302662"/>
            <a:ext cx="164592" cy="16459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231287" y="4435361"/>
            <a:ext cx="164592" cy="16459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007310" y="4330053"/>
            <a:ext cx="164592" cy="16459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844387" y="3828693"/>
            <a:ext cx="164592" cy="16459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164722" y="3958570"/>
            <a:ext cx="164592" cy="16459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235667" y="3985907"/>
            <a:ext cx="164592" cy="16459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293160" y="4565458"/>
            <a:ext cx="164592" cy="16459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312364" y="4184513"/>
            <a:ext cx="164592" cy="16459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961120" y="38862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✕</a:t>
            </a:r>
            <a:endParaRPr lang="en-US" sz="2000" dirty="0"/>
          </a:p>
        </p:txBody>
      </p:sp>
      <p:sp>
        <p:nvSpPr>
          <p:cNvPr id="61" name="Shape 59"/>
          <p:cNvSpPr/>
          <p:nvPr/>
        </p:nvSpPr>
        <p:spPr>
          <a:xfrm>
            <a:off x="10826312" y="3348814"/>
            <a:ext cx="164592" cy="164592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545420" y="2977276"/>
            <a:ext cx="164592" cy="164592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375253" y="3406309"/>
            <a:ext cx="164592" cy="164592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365483" y="3089334"/>
            <a:ext cx="164592" cy="164592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193247" y="3392307"/>
            <a:ext cx="164592" cy="164592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951309" y="3208918"/>
            <a:ext cx="164592" cy="164592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565901" y="3329387"/>
            <a:ext cx="164592" cy="164592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949360" y="3189272"/>
            <a:ext cx="164592" cy="164592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735731" y="2799860"/>
            <a:ext cx="164592" cy="164592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757005" y="3459374"/>
            <a:ext cx="164592" cy="164592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131520" y="2672970"/>
            <a:ext cx="164592" cy="164592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063800" y="3398336"/>
            <a:ext cx="164592" cy="164592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332720" y="27889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✕</a:t>
            </a:r>
            <a:endParaRPr lang="en-US" sz="2000" dirty="0"/>
          </a:p>
        </p:txBody>
      </p:sp>
      <p:sp>
        <p:nvSpPr>
          <p:cNvPr id="74" name="Shape 72"/>
          <p:cNvSpPr/>
          <p:nvPr/>
        </p:nvSpPr>
        <p:spPr>
          <a:xfrm>
            <a:off x="10268236" y="5064254"/>
            <a:ext cx="164592" cy="16459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086687" y="5257161"/>
            <a:ext cx="164592" cy="16459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276635" y="4760505"/>
            <a:ext cx="164592" cy="16459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440714" y="4974108"/>
            <a:ext cx="164592" cy="16459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144300" y="5028726"/>
            <a:ext cx="164592" cy="16459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703678" y="5545247"/>
            <a:ext cx="164592" cy="16459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603878" y="4773895"/>
            <a:ext cx="164592" cy="16459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639640" y="5401424"/>
            <a:ext cx="164592" cy="16459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674366" y="5508723"/>
            <a:ext cx="164592" cy="16459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087169" y="4768415"/>
            <a:ext cx="164592" cy="16459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902146" y="4851255"/>
            <a:ext cx="164592" cy="16459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523982" y="4955732"/>
            <a:ext cx="164592" cy="164592"/>
          </a:xfrm>
          <a:prstGeom prst="ellipse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332720" y="49834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✕</a:t>
            </a:r>
            <a:endParaRPr lang="en-US" sz="2000" dirty="0"/>
          </a:p>
        </p:txBody>
      </p:sp>
      <p:sp>
        <p:nvSpPr>
          <p:cNvPr id="87" name="Text 85"/>
          <p:cNvSpPr/>
          <p:nvPr/>
        </p:nvSpPr>
        <p:spPr>
          <a:xfrm>
            <a:off x="6400800" y="374904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Spending Score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8046720" y="585216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Annual Income (k$)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6400800" y="5989320"/>
            <a:ext cx="5212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 Cluster Visualization Here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/ 15</a:t>
            </a:r>
            <a:endParaRPr lang="en-US" sz="1000" dirty="0"/>
          </a:p>
        </p:txBody>
      </p:sp>
      <p:pic>
        <p:nvPicPr>
          <p:cNvPr id="91" name="Picture 90" descr="customer_cluster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1880" y="1920240"/>
            <a:ext cx="5709920" cy="45180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6EC2"/>
          </a:solidFill>
        </p:spPr>
      </p:sp>
      <p:sp>
        <p:nvSpPr>
          <p:cNvPr id="3" name="Text 1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B6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 •  FINDINGS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&amp; Business Insights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7280" cy="73152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Segmentation Using K-Means Clustering  |  Sneha Verma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B6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SEGMENTS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377440"/>
            <a:ext cx="109728" cy="10972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514600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Income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926080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Spending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66160" y="237744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B6EC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2377440"/>
            <a:ext cx="109728" cy="1097280"/>
          </a:xfrm>
          <a:prstGeom prst="rect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2514600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Income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40480" y="2926080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Spending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61188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F4B4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611880"/>
            <a:ext cx="109728" cy="109728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749040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Income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4160520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Spending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66160" y="361188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66160" y="3611880"/>
            <a:ext cx="109728" cy="10972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0" y="3749040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Income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40480" y="4160520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Spending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84632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7B3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846320"/>
            <a:ext cx="109728" cy="1097280"/>
          </a:xfrm>
          <a:prstGeom prst="rect">
            <a:avLst/>
          </a:prstGeom>
          <a:solidFill>
            <a:srgbClr val="7B3FF2"/>
          </a:solidFill>
          <a:ln w="12700">
            <a:solidFill>
              <a:srgbClr val="7B3F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983480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Moderate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5394960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Balanced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0" y="1920240"/>
            <a:ext cx="4754880" cy="4297680"/>
          </a:xfrm>
          <a:prstGeom prst="roundRect">
            <a:avLst>
              <a:gd name="adj" fmla="val 255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0" y="2103120"/>
            <a:ext cx="4389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4B4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BENEFITS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132320" y="2788920"/>
            <a:ext cx="274320" cy="27432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0" y="274320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543800" y="2697480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Targeted marketing campaigns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132320" y="3429000"/>
            <a:ext cx="274320" cy="27432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0" y="338328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543800" y="3337560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Personalized recommendations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132320" y="4069080"/>
            <a:ext cx="274320" cy="27432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0" y="402336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543800" y="3977640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retention strategies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132320" y="4709160"/>
            <a:ext cx="274320" cy="27432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32320" y="466344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543800" y="4617720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Loyalty program planning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132320" y="5349240"/>
            <a:ext cx="274320" cy="27432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0" y="530352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543800" y="5257800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Improved sales &amp; revenue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6EC2"/>
          </a:solidFill>
        </p:spPr>
      </p:sp>
      <p:sp>
        <p:nvSpPr>
          <p:cNvPr id="3" name="Text 1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B6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 •  STRENGTHS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Advantages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7280" cy="73152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Segmentation Using K-Means Clustering  |  Sneha Verma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03120"/>
            <a:ext cx="3520440" cy="109728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377440"/>
            <a:ext cx="3017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6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3017520"/>
            <a:ext cx="3017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Easy to understand and implement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210312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2103120"/>
            <a:ext cx="3520440" cy="109728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377440"/>
            <a:ext cx="3017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6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Efficient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63440" y="3017520"/>
            <a:ext cx="3017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 even on large customer datasets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210312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2103120"/>
            <a:ext cx="3520440" cy="109728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2377440"/>
            <a:ext cx="3017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6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Insightful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12480" y="3017520"/>
            <a:ext cx="3017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Reveals hidden patterns in raw data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11480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114800"/>
            <a:ext cx="3520440" cy="109728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389120"/>
            <a:ext cx="3017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6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Effective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4400" y="5029200"/>
            <a:ext cx="3017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Improves marketing precision and ROI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89120" y="411480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4114800"/>
            <a:ext cx="3520440" cy="109728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4389120"/>
            <a:ext cx="3017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6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Data-Driven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663440" y="5029200"/>
            <a:ext cx="3017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Supports informed business decisions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38160" y="411480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38160" y="4114800"/>
            <a:ext cx="3520440" cy="109728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0" y="4389120"/>
            <a:ext cx="3017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6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Scalable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412480" y="5029200"/>
            <a:ext cx="3017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Adapts to growing customer bases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6EC2"/>
          </a:solidFill>
        </p:spPr>
      </p:sp>
      <p:sp>
        <p:nvSpPr>
          <p:cNvPr id="3" name="Text 1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B6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 •  LOOKING AHEAD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 &amp; Future Scope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7280" cy="73152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Segmentation Using K-Means Clustering  |  Sneha Verma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5440680" cy="4297680"/>
          </a:xfrm>
          <a:prstGeom prst="roundRect">
            <a:avLst>
              <a:gd name="adj" fmla="val 2553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0312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B23A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788920"/>
            <a:ext cx="320040" cy="32004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78892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!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697480"/>
            <a:ext cx="4480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Requires choosing K in advance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566160"/>
            <a:ext cx="320040" cy="32004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56616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!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474720"/>
            <a:ext cx="4480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Sensitive to outliers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4343400"/>
            <a:ext cx="320040" cy="32004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34340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!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4251960"/>
            <a:ext cx="4480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Depends on centroid initialization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5120640"/>
            <a:ext cx="320040" cy="32004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12064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!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5029200"/>
            <a:ext cx="4480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Works best with numerical data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17920" y="1920240"/>
            <a:ext cx="5440680" cy="4297680"/>
          </a:xfrm>
          <a:prstGeom prst="roundRect">
            <a:avLst>
              <a:gd name="adj" fmla="val 255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210312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4B4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92240" y="2788920"/>
            <a:ext cx="320040" cy="32004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274320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49440" y="2697480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with DBSCAN or Hierarchical Clustering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92240" y="3429000"/>
            <a:ext cx="320040" cy="32004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338328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49440" y="3337560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additional customer features (age, gender)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92240" y="4069080"/>
            <a:ext cx="320040" cy="32004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402336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49440" y="3977640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Evaluate using Silhouette Score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92240" y="4709160"/>
            <a:ext cx="320040" cy="32004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466344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49440" y="4617720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 as a web application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92240" y="5349240"/>
            <a:ext cx="320040" cy="32004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5303520"/>
            <a:ext cx="320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49440" y="5257800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interactive Streamlit / Power BI dashboards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B6EC2"/>
          </a:solidFill>
        </p:spPr>
      </p:sp>
      <p:sp>
        <p:nvSpPr>
          <p:cNvPr id="3" name="Text 1"/>
          <p:cNvSpPr/>
          <p:nvPr/>
        </p:nvSpPr>
        <p:spPr>
          <a:xfrm>
            <a:off x="640080" y="36576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B6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  •  FINAL THOUGHTS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097280" cy="73152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Segmentation Using K-Means Clustering  |  Sneha Verma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0972800" cy="4206240"/>
          </a:xfrm>
          <a:prstGeom prst="roundRect">
            <a:avLst>
              <a:gd name="adj" fmla="val 3261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28800"/>
            <a:ext cx="1371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1B6EC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"</a:t>
            </a:r>
            <a:endParaRPr lang="en-US" sz="11000" dirty="0"/>
          </a:p>
        </p:txBody>
      </p:sp>
      <p:sp>
        <p:nvSpPr>
          <p:cNvPr id="9" name="Text 7"/>
          <p:cNvSpPr/>
          <p:nvPr/>
        </p:nvSpPr>
        <p:spPr>
          <a:xfrm>
            <a:off x="1554480" y="2560320"/>
            <a:ext cx="96012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project demonstrates how K-Means Clustering can effectively segment customers based on their spending behavior and annual income.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3840480"/>
            <a:ext cx="9601200" cy="2194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 identifying meaningful customer groups, businesses can design personalized marketing strategies, improve customer satisfaction, and make data-driven decisions — showcasing the practical power of unsupervised machine learning in solving real-world business problems.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094415" y="649224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 /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4114800"/>
            <a:ext cx="5486400" cy="5486400"/>
          </a:xfrm>
          <a:prstGeom prst="ellipse">
            <a:avLst/>
          </a:prstGeom>
          <a:solidFill>
            <a:srgbClr val="1B6EC2"/>
          </a:solidFill>
          <a:ln w="12700">
            <a:solidFill>
              <a:srgbClr val="1B6EC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48495" y="-2743200"/>
            <a:ext cx="5486400" cy="5486400"/>
          </a:xfrm>
          <a:prstGeom prst="ellipse">
            <a:avLst/>
          </a:prstGeom>
          <a:solidFill>
            <a:srgbClr val="113B6E"/>
          </a:solidFill>
          <a:ln w="12700">
            <a:solidFill>
              <a:srgbClr val="113B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62895" y="5029200"/>
            <a:ext cx="1280160" cy="1280160"/>
          </a:xfrm>
          <a:prstGeom prst="ellipse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77440"/>
            <a:ext cx="1033272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11000" dirty="0"/>
          </a:p>
        </p:txBody>
      </p:sp>
      <p:sp>
        <p:nvSpPr>
          <p:cNvPr id="6" name="Shape 4"/>
          <p:cNvSpPr/>
          <p:nvPr/>
        </p:nvSpPr>
        <p:spPr>
          <a:xfrm>
            <a:off x="5410048" y="4114800"/>
            <a:ext cx="1371600" cy="73152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Your Attention &amp; Time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5212080"/>
            <a:ext cx="10332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600" dirty="0">
                <a:solidFill>
                  <a:srgbClr val="F4B4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Sneha Verma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Segmentation Using K-Means Clustering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5689</Words>
  <Application>WPS Presentation</Application>
  <PresentationFormat>On-screen Show (16:9)</PresentationFormat>
  <Paragraphs>476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Calibri</vt:lpstr>
      <vt:lpstr>Calibri</vt:lpstr>
      <vt:lpstr>Georgia</vt:lpstr>
      <vt:lpstr>Georgia</vt:lpstr>
      <vt:lpstr>Georgia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Segmentation Using K-Means Clustering</dc:title>
  <dc:creator>PptxGenJS</dc:creator>
  <dc:subject>PptxGenJS Presentation</dc:subject>
  <cp:lastModifiedBy>Sneha Verma</cp:lastModifiedBy>
  <cp:revision>4</cp:revision>
  <dcterms:created xsi:type="dcterms:W3CDTF">2026-06-22T14:14:00Z</dcterms:created>
  <dcterms:modified xsi:type="dcterms:W3CDTF">2026-06-22T14:21:16Z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CE7672E13AF042A1BE10944BF9BA446D_13</vt:lpwstr>
  </property>
</Properties>
</file>